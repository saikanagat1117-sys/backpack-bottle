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GROUP 3 · DIGITAL PLATFORMS LAB · BOLOGNA BUSINESS SCHOOL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5EFE6"/>
                </a:solidFill>
                <a:latin typeface="Georgia"/>
              </a:rPr>
              <a:t>backpack &amp; bottle.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9184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5EFE6"/>
                </a:solidFill>
                <a:latin typeface="Georgia"/>
              </a:rPr>
              <a:t>Curated European city breaks. Transparent prices.</a:t>
            </a:r>
          </a:p>
          <a:p>
            <a:pPr algn="l"/>
            <a:r>
              <a:rPr sz="2200" b="0">
                <a:solidFill>
                  <a:srgbClr val="F5EFE6"/>
                </a:solidFill>
                <a:latin typeface="Georgia"/>
              </a:rPr>
              <a:t>€50 off your first booking.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Campaign brief · brand identity · landing page · tracking · media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179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Sai Prathyaksh Kanagat  ·  Group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21792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5EFE6"/>
                </a:solidFill>
                <a:latin typeface="Inter"/>
              </a:rPr>
              <a:t>Campaign window: 5 May – 15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What we'll walk 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The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What we were asked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71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Strategic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918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Who, what, when, how much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7490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The audience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069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Italian millennials, persona + pain 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262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526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Brand 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846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Positioning, voice, visual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3035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Offer &amp; coupon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623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5 destinations, BB50 mechanic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194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39" y="2194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Landing page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39" y="2514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Architecture + walkthrough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29718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39" y="29718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Measurement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32918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GTM, GA4, Meta Pixel, Consent Mode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3749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39" y="37490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Media plan &amp; budget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39" y="4069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60/40 Meta/Google, €2,000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45262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39" y="4526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Timeline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39" y="4846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Pre-launch → 6-week run →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59" y="53035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Georgia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39" y="53035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Risks &amp; next steps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39" y="56235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Assumptions and what we'd do live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The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Group 3 — Backpack &amp; Bottle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365760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365760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BUSINESS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Promote travel deals under the "Backpack &amp; Bottle" brand and generate qualified leads interested in affordable, experience-driven trips.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377440"/>
            <a:ext cx="365760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377440"/>
            <a:ext cx="365760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MARKETING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089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Make the offer feel attractive, accessible, and time-sensitive — combining inspiration with a clear incentive to request a coupon and book early.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377440"/>
            <a:ext cx="3657600" cy="3291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2377440"/>
            <a:ext cx="365760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6517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WHAT WAS OPEN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1089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Audience, offer architecture, value prop sharpening, media mix, budget, timing, KPI targets — all left to the team to define and justify.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Mandatory KPIs: LP visits · coupon downloads · lead form submissions · CVR · CPL · email list growth.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Strategic decisions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591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AUDIENCE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Italian millennials 25–39, urban, €25–45k income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19456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3591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OFFER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Curated European city breaks · 5 destinations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9456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3591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COUPON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697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€50 off · code BB50 · valid 90 days · min €300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63931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POSITIONING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"Skip the research fatigue"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7472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63931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STRATEGIC FOCUS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9776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Lead acquisition for email nurture (long booking cycle)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47472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363931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97764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€2,000 paid media · 60% Meta · 40% Google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5488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91947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578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5 May – 15 June 2026 (6 weeks active)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475488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91947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TARGETS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2578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5,000 visits → 400 coupons → 300 leads · €6.67 CPL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754880"/>
            <a:ext cx="36118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491947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52578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Next.js + Vercel · GTM · GA4 · Meta Pixel · Looker Studio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Who we're talking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Italian millennials 25–39 · urban · digitally native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30352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DEMOGRAPHICS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Age: 25–39</a:t>
            </a:r>
          </a:p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Location: Milan · Rome · Bologna · Florence · Turin</a:t>
            </a:r>
          </a:p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Income: €25–45k/year</a:t>
            </a:r>
          </a:p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Education: University degree</a:t>
            </a:r>
          </a:p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Employment: Digital, creative, service sectors</a:t>
            </a:r>
          </a:p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Relationship: Single or couples without children</a:t>
            </a:r>
          </a:p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Language: Italian (primary), English (secondary)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286000"/>
            <a:ext cx="5486400" cy="384048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TRAVEL MOTIVATIONS &amp; 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Authentic local life — not package tourism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Quality time with friends/family (38% motivation)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Food &amp; wine experiences (36%)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Shareable Instagram moments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Books 2–4 months ahead, takes 3–4 trips/year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70% inspired by destinations seen on social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Mobile for inspiration · desktop for booking</a:t>
            </a:r>
          </a:p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• Avoids August (Ferragosto), prefers Apr–Jun &amp; Sep–Oct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What blocks them from 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Five pain points the campaign solves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97642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945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Research overwhelm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9456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Booking.com shows 500 hotels — paralysing. We show 3–5 curated options per city.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97642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175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Price transparency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01752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Frustrated by prices that jump at checkout. We show all-in pricing upfront.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97642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8404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Trust deficit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8404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Burned by Volagratis / eDreams refund delays. We position transparency as the brand.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6634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97642"/>
                </a:solidFill>
                <a:latin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6634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FOMO on the "best" deal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6634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Constantly worry they're missing a better price. €50 off is a real, named discount — not a fake countdown.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4864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97642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4864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Time scarcity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54864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Want to travel more but exhausted by planning. Pre-packaged itineraries cut planning time to 5 minutes.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Positioning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How we differ from every competitor in the audience's 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5EFE6"/>
                </a:solidFill>
                <a:latin typeface="Georgia"/>
              </a:rPr>
              <a:t>"Skip the research fatigue."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European city breaks at insider prices — early access deals that fit your budget and deliver experiences worth sharing.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840480"/>
          <a:ext cx="110642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420624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Competitor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How they compete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How we win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Booking.com / Expedia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Compete on breadth — thousands of options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We compete on curation — best 3–5 per 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Volagratis / Lastminute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Compete on price (but with trust issues)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We compete on transparent value + trust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Luxury tour operators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High-touch concierge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Affordable authenticity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DIY booking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Maximum control, maximum effort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5-minute booking, time saved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Brand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Modern Wanderer — warm, editorial, trustworthy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PALETTE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1645920" cy="9144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Inter"/>
              </a:rPr>
              <a:t>Forest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#1F3A2E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2560320"/>
            <a:ext cx="1645920" cy="914400"/>
          </a:xfrm>
          <a:prstGeom prst="rect">
            <a:avLst/>
          </a:prstGeom>
          <a:solidFill>
            <a:srgbClr val="14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3520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Inter"/>
              </a:rPr>
              <a:t>Forest dark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749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#142620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560320"/>
            <a:ext cx="1645920" cy="9144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35204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Inter"/>
              </a:rPr>
              <a:t>Cream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3749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#F5EFE6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1645920" cy="914400"/>
          </a:xfrm>
          <a:prstGeom prst="rect">
            <a:avLst/>
          </a:prstGeom>
          <a:solidFill>
            <a:srgbClr val="E8D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Inter"/>
              </a:rPr>
              <a:t>Cream dark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#E8DFD1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3931920"/>
            <a:ext cx="1645920" cy="914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4892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Inter"/>
              </a:rPr>
              <a:t>Burnt orange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1206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#D97642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931920"/>
            <a:ext cx="1645920" cy="914400"/>
          </a:xfrm>
          <a:prstGeom prst="rect">
            <a:avLst/>
          </a:prstGeom>
          <a:solidFill>
            <a:srgbClr val="B85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48920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3A2E"/>
                </a:solidFill>
                <a:latin typeface="Inter"/>
              </a:rPr>
              <a:t>Burnt dark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12064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#B85E30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TYPOGRAPHY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56032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F3A2E"/>
                </a:solidFill>
                <a:latin typeface="Georgia"/>
              </a:rPr>
              <a:t>Fraunces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004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Display serif — used for headlines, wordmark, prices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8404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Inter"/>
              </a:rPr>
              <a:t>Inter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480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Sans — used for body, UI, captions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20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VOICE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44068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Direct. Warm. Anti-tourist-trap. Editorial without being pretentious. We say what we don't do as much as what we do.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The promise + 4 selling 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11064240" cy="109728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We do the hard work of curation so you don't have to spend hours comparing options. We pick the best 3–5 packages per destination, negotiate early-booking rates, and present them transparently. You book in 5 minutes and go create memories.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57600"/>
            <a:ext cx="54406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91440" cy="11430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221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Curated, not overwhelming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3–5 great options per city, not 500. Every hotel pre-vetted for location, reviews, value.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3657600"/>
            <a:ext cx="54406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79" y="3657600"/>
            <a:ext cx="91440" cy="11430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799" y="38221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Insider early-booking 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799" y="420624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€50 off through partnership rates. Real discount, transparent all-in pricing.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54406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91440" cy="11430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023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Authentic local experiences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864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Neighbourhoods locals actually live in. Real cafés and markets, not tourist traps.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79" y="4937760"/>
            <a:ext cx="5440680" cy="1143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79" y="4937760"/>
            <a:ext cx="91440" cy="11430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51023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2E"/>
                </a:solidFill>
                <a:latin typeface="Inter"/>
              </a:rPr>
              <a:t>Worry-free planning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799" y="54864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Flights + hotel + itinerary coordinated. Flexible dates. Email support if questions arise.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The offer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5 curated European city breaks · 1.5–3 hour flights from Italy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194560" cy="310896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1828800" cy="27432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Inter"/>
              </a:rPr>
              <a:t>CLASSIC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ITALY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EFE6"/>
                </a:solidFill>
                <a:latin typeface="Georgia"/>
              </a:rPr>
              <a:t>Rome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FROM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EFE6"/>
                </a:solidFill>
                <a:latin typeface="Inter"/>
              </a:rPr>
              <a:t>€280 · 2 nights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286000"/>
            <a:ext cx="2194560" cy="310896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2468880"/>
            <a:ext cx="1828800" cy="27432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4871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Inter"/>
              </a:rPr>
              <a:t>COAST &amp; 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SPAIN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246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EFE6"/>
                </a:solidFill>
                <a:latin typeface="Georgia"/>
              </a:rPr>
              <a:t>Barcelona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FROM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389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EFE6"/>
                </a:solidFill>
                <a:latin typeface="Inter"/>
              </a:rPr>
              <a:t>€320 · 3 nights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79" y="2286000"/>
            <a:ext cx="2194560" cy="310896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94959" y="2468880"/>
            <a:ext cx="1828800" cy="27432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79" y="24871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Inter"/>
              </a:rPr>
              <a:t>CANALS &amp;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NETHERLANDS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59" y="3246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EFE6"/>
                </a:solidFill>
                <a:latin typeface="Georgia"/>
              </a:rPr>
              <a:t>Amsterdam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59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FROM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59" y="4389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EFE6"/>
                </a:solidFill>
                <a:latin typeface="Inter"/>
              </a:rPr>
              <a:t>€365 · 3 nights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2286000"/>
            <a:ext cx="2194560" cy="310896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26680" y="2468880"/>
            <a:ext cx="1828800" cy="27432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24871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Inter"/>
              </a:rPr>
              <a:t>ATLANTIC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PORTUGAL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80" y="3246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EFE6"/>
                </a:solidFill>
                <a:latin typeface="Georgia"/>
              </a:rPr>
              <a:t>Lisbon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80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FROM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4389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EFE6"/>
                </a:solidFill>
                <a:latin typeface="Inter"/>
              </a:rPr>
              <a:t>€345 · 3 nights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19" y="2286000"/>
            <a:ext cx="2194560" cy="310896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58399" y="2468880"/>
            <a:ext cx="1828800" cy="27432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04119" y="248716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5EFE6"/>
                </a:solidFill>
                <a:latin typeface="Inter"/>
              </a:rPr>
              <a:t>HISTORIC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399" y="29260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CZECH REPUBLIC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399" y="324612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EFE6"/>
                </a:solidFill>
                <a:latin typeface="Georgia"/>
              </a:rPr>
              <a:t>Prague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399" y="4114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D97642"/>
                </a:solidFill>
                <a:latin typeface="Inter"/>
              </a:rPr>
              <a:t>FROM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399" y="43891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EFE6"/>
                </a:solidFill>
                <a:latin typeface="Inter"/>
              </a:rPr>
              <a:t>€295 · 2 nights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Each package includes: round-trip flight from Italian airports, 3–4 star boutique hotel, local guide &amp; itinerary suggestions. Optional add-ons: food tours, bike rentals, museum passes.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Coupon mechanic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BB50 — built to drive lead capture, not race-to-the-bottom pricing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486400" cy="3840480"/>
          </a:xfrm>
          <a:prstGeom prst="round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MECHANIC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D97642"/>
                </a:solidFill>
                <a:latin typeface="Georgia"/>
              </a:rPr>
              <a:t>€50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off bookings from €300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Code: BB50  ·  Valid 90 days  ·  One per 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6636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Travel dates 1 Jun – 31 Dec 2026.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Excl. 23–31 Dec, 31 Dec – 2 Jan, 10–20 Aug.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Not combinable with other offers.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286000"/>
            <a:ext cx="5303520" cy="3840480"/>
          </a:xfrm>
          <a:prstGeom prst="round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WHY THIS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34640"/>
            <a:ext cx="49377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€300 minimum: realistic floor for flight + hotel city break.</a:t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/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€50 = 16.7% — meaningful but doesn't devalue the brand.</a:t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/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90-day validity: matches Italian booking cycle (2–4 months ahead) without inducing urgency paralysis.</a:t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/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Required email + GDPR consent → coupon = the lead-magnet logic.</a:t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/>
            </a:r>
          </a:p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One-per-customer prevents stockpiling, supports clean reporting.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The funnel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From paid impression to booking — and where each KPI sits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1828800" cy="1828800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FE6"/>
                </a:solidFill>
                <a:latin typeface="Inter"/>
              </a:rPr>
              <a:t>IMPRESSIONS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5EFE6"/>
                </a:solidFill>
                <a:latin typeface="Georgia"/>
              </a:rPr>
              <a:t>150–180k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661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5EFE6"/>
                </a:solidFill>
                <a:latin typeface="Inter"/>
              </a:rPr>
              <a:t>Meta + Google 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337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D97642"/>
                </a:solidFill>
                <a:latin typeface="Inter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2542031"/>
            <a:ext cx="1828800" cy="1682496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2679191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FE6"/>
                </a:solidFill>
                <a:latin typeface="Inter"/>
              </a:rPr>
              <a:t>CLICKS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999231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5EFE6"/>
                </a:solidFill>
                <a:latin typeface="Georgia"/>
              </a:rPr>
              <a:t>1.5–2k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639311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5EFE6"/>
                </a:solidFill>
                <a:latin typeface="Inter"/>
              </a:rPr>
              <a:t>CTR ~1%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337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D97642"/>
                </a:solidFill>
                <a:latin typeface="Inter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2615184"/>
            <a:ext cx="1828800" cy="1536192"/>
          </a:xfrm>
          <a:prstGeom prst="round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75234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FE6"/>
                </a:solidFill>
                <a:latin typeface="Inter"/>
              </a:rPr>
              <a:t>LANDING VISITS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72384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5EFE6"/>
                </a:solidFill>
                <a:latin typeface="Georgia"/>
              </a:rPr>
              <a:t>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71246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5EFE6"/>
                </a:solidFill>
                <a:latin typeface="Inter"/>
              </a:rPr>
              <a:t>KPI #1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337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D97642"/>
                </a:solidFill>
                <a:latin typeface="Inter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688336"/>
            <a:ext cx="1828800" cy="1389888"/>
          </a:xfrm>
          <a:prstGeom prst="round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82549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FE6"/>
                </a:solidFill>
                <a:latin typeface="Inter"/>
              </a:rPr>
              <a:t>COUPON DOWNLOADS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145536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5EFE6"/>
                </a:solidFill>
                <a:latin typeface="Georgia"/>
              </a:rPr>
              <a:t>400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78561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5EFE6"/>
                </a:solidFill>
                <a:latin typeface="Inter"/>
              </a:rPr>
              <a:t>KPI #2 · 8% CVR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337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D97642"/>
                </a:solidFill>
                <a:latin typeface="Inter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761488"/>
            <a:ext cx="1828800" cy="1243584"/>
          </a:xfrm>
          <a:prstGeom prst="round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89864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FE6"/>
                </a:solidFill>
                <a:latin typeface="Inter"/>
              </a:rPr>
              <a:t>EMAIL LEADS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21868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5EFE6"/>
                </a:solidFill>
                <a:latin typeface="Georgia"/>
              </a:rPr>
              <a:t>300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85876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5EFE6"/>
                </a:solidFill>
                <a:latin typeface="Inter"/>
              </a:rPr>
              <a:t>KPI #3 · 6% CVR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333756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D97642"/>
                </a:solidFill>
                <a:latin typeface="Inter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0" y="2834640"/>
            <a:ext cx="1828800" cy="1097280"/>
          </a:xfrm>
          <a:prstGeom prst="round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0" y="2971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5EFE6"/>
                </a:solidFill>
                <a:latin typeface="Inter"/>
              </a:rPr>
              <a:t>BOOKINGS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32918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5EFE6"/>
                </a:solidFill>
                <a:latin typeface="Georgia"/>
              </a:rPr>
              <a:t>~30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9840" y="3931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5EFE6"/>
                </a:solidFill>
                <a:latin typeface="Inter"/>
              </a:rPr>
              <a:t>10% nurture conv.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€2,000 spend ÷ 300 leads = €6.67 CPL · ROI tracked over 90 days as nurtured leads convert to bookings.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Landing page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Single-purpose page optimised for one action: download the coupon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Sticky nav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Wordmark · Destinations · How it works · Blog · Measurement · EN/IT toggle · Coupon CTA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224028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219456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Hero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251460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Eyebrow tag · headline ("Skip the research fatigue") · subheadline · dual CTA · trust 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546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Value pillars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4 pillars on dark forest background — curation, transparency, authentic, worry-free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79" y="320040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31546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Destinations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47472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5 cards · image · country · city · from-price · clickable to scroll to 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6052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How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3484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3 steps · claim coupon → pick city → book and 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79" y="416052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4114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Social proof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443484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4 stats: 500+ hotels vetted · 5 min to book · 0 hidden fees · €50 off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2064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749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Lead 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9496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Form: name · email · departure city · destination interest · GDPR consent · CTA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79" y="5120640"/>
            <a:ext cx="45720" cy="77724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59" y="50749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Footer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5394960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Wordmark · navigation · privacy · terms · academic project credit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Site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Every route the campaign serves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860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26720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Route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Purpose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Italian primary landing page (EN toggle)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/grazie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Thank-you page · BB50 displayed · PDF download · GA4 conversion event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/measurement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Public measurement plan (this deck, on the live site)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/blog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SEO hub — 3 posts on weekend itineraries, booking timing, destination comparisons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/blog/[slug]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Individual post pages with CTA back to coupon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/privacy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GDPR privacy policy + cookie disclosures + coupon T&amp;Cs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/api/lead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Server endpoint accepting form submissions, forwarding to ESP webhook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/backpack-bottle-coupon-BB50.pdf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Branded one-page coupon PDF served from /public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Built on Next.js 14 (App Router) + TypeScript + Tailwind, deployed on Vercel.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Tracking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One container. Every tag. Consent-aware.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All marketing tags fire through a single GTM container. Each user interaction pushes a named event into window.dataLayer. GTM listens, fires GA4 + Meta Pixel + Google Ads. Consent Mode v2 blocks marketing storage until consent is granted.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11064240" cy="3291840"/>
          </a:xfrm>
          <a:prstGeom prst="roundRect">
            <a:avLst/>
          </a:prstGeom>
          <a:solidFill>
            <a:srgbClr val="14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5156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User action (click / scroll / submit / page load)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             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              ▼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window.dataLayer.push({event: 'coupon_download', value: 50, ...})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             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              ▼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┌────────────────────────────────────────────────────────────┐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│  Google Tag Manager   (GTM-XXXXXXX)                        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│  • Trigger: Custom Event = coupon_download                 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│  • Variables read: coupon_code · value · currency · destination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│  • Consent gate: ad_storage = granted required             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└─────────┬──────────────────┬──────────────────┬─────────────┘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▼                  ▼                  ▼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[GA4 event]        [Meta Lead]      [Google Ads conv.]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G-XXXXXX           Pixel ID         AW-XXXXXX/abcd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│                  │                  │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     ▼                  ▼                  ▼</a:t>
            </a:r>
          </a:p>
          <a:p>
            <a:pPr algn="l"/>
            <a:r>
              <a:rPr sz="1000" b="0">
                <a:solidFill>
                  <a:srgbClr val="F5EFE6"/>
                </a:solidFill>
                <a:latin typeface="Courier New"/>
              </a:rPr>
              <a:t>      Looker Studio    Retargeting aud.   Conversion 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dataLayer event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Every custom event the site fires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Event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Trigger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Parameters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Purpose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page_view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Auto via GA4 Enhanced Measurement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page_location, page_title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Funnel 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scroll_75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GTM Scroll Depth trigger 75%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percent_scrolled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Engagement quality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cta_click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Hero, nav, blog CTAs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Intent signal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destination_card_click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Destination card click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destination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dim destination_interest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form_start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First form-field focus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form: coupon_lead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Form abandonment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form_submit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POST /api/lead success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form, destination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GA4 lead conversion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coupon_download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After submit + direct PDF download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coupon_code, value, currency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Primary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thank_you_view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/grazie page load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value, currency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Backup conversion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consent_update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Cookie banner choice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ad_storage, analytics_storage, ad_user_data, ad_personalization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Consent Mode 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visit_count_set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Every page load (localStorage)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visit_count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User property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GTM tag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Every tag the container ships, what it does, when it fires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Tag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Trigger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Purpose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GA4 Configuration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All 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Pageviews + base config to property G-XXXXXXXXXX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GA4 Event — coupon_download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coupon_download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Marked as conversion in GA4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GA4 Event — form_submit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form_submit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Lead-stage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GA4 Event — cta_click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cta_click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Engagement tracking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GA4 Event — scroll_75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scroll_75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Engagement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Meta Pixel — Base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All Pages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PageView for retargeting audiences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Meta Pixel — Lead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form_submit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Optimisation event for Meta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Meta Pixel — CompleteRegistration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coupon_download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Bottom-funnel signal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Google Ads — Lead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Custom Event = coupon_download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Value 50 EUR; imported into Google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Google Ads — Remarketing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All Pages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Audience builder for retargeting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Consent Mode v2 (GDPR)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Default-denied. Privacy-first. Audit-ready.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Before GTM loads, gtag('consent', 'default', ...) sets all four signals to denied. The cookie banner asks the user. On Accept, a consent_update event flips signals to granted; pending tags execute.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1089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75488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Signal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Default state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After accept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Controls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ad_storage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denied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granted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Meta Pixel · Google Ads cookies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analytics_storage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denied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granted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GA4 cookies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ad_user_data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denied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granted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User-data signals to 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ad_personalization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denied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granted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Personalised ads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Inter"/>
              </a:rPr>
              <a:t>Even with Reject, GA4 receives consent-modeled pings (no cookies) so totals are still observable in aggregate — Google's recommended setup.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KPI definitions &amp; targets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47040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KPI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Target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Rationale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Source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Landing page visits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€2,000 ÷ €0.40 blended CPC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GA4 sessions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Coupon downloads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400 (8% CVR)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Travel lead-magnet benchmark 5–10%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GA4 coupon_download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Lead form submissions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300 (6% CVR)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Industry standard for gated content 5–8%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GA4 form_submit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Conversion rate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6–8%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(downloads + forms) ÷ visits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Calculated metric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Cost per lead (CPL)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€6.67 avg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Travel sector typical €10–50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Spend ÷ leads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Email list growth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400+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Net new subscribers from campaign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ESP report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Email open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Travel industry avg 30–35%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ESP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Click-to-open rate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20%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Travel industry avg 15–25%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ESP report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Media plan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Where the €2,000 goes and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Two channels. One job each. Meta drives discovery + retargeting; Google captures active intent.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5486400" cy="3291840"/>
          </a:xfrm>
          <a:prstGeom prst="round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642"/>
                </a:solidFill>
                <a:latin typeface="Inter"/>
              </a:rPr>
              <a:t>META ADS · 60%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F3A2E"/>
                </a:solidFill>
                <a:latin typeface="Georgia"/>
              </a:rPr>
              <a:t>€1,200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Awareness:    €300  · Carousel ads, broad reach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Lead Gen:     €600  · Conversion-optimised, interest targeting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Retargeting:  €300  · Dynamic ads for site visitors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/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Expected: 150–180k impressions · 1.5–2k clicks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3.5–4k LP visits · 200–250 leads at ~€6 CPL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926080"/>
            <a:ext cx="5486400" cy="3291840"/>
          </a:xfrm>
          <a:prstGeom prst="round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97642"/>
                </a:solidFill>
                <a:latin typeface="Inter"/>
              </a:rPr>
              <a:t>GOOGLE ADS · 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1F3A2E"/>
                </a:solidFill>
                <a:latin typeface="Georgia"/>
              </a:rPr>
              <a:t>€800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Branded:    €100  · Protect brand-name searches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Generic:    €500  · "weekend Barcellona", "viaggi economici"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Competitor: €200  · "volagratis alternative"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/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Expected: 400–700 clicks at €1.50–2.50 CPC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1–1.5k LP visits · 70–100 leads at ~€8 CPL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Meta Ads — campaign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Italian millennials spend 2–3 hours daily on Instagram &amp; Facebook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860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800100"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Sub-campaign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Budget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Audience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Creative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Optimisation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80010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Brand Awareness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€300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Italian millennials 25–39, urban, travel interests + lookalike of website visitors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Carousel ads showcasing 5 destinations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Reach + 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Lead Generation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€600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Conversion-optimised; interests: travel, weekend trips, food &amp; wine, lookalikes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Single-image ads + video; CTA: Get the coupon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Coupon Lead conversion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80010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Retargeting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€300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Site visitors past 30 days who didn't submit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Dynamic ads with destination viewed + €50 reminder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Coupon Lead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Italy Meta CPM €6–9 · CPC ~€1.05 · Travel CPC even lower (€0.63–1.86). Visual platform fits destination marketing.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Google Ads — campaign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Capture active intent · branded protection · competitor displacement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860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685800"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Sub-campaign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Budget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Keywords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Strategy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000">
                          <a:solidFill>
                            <a:srgbClr val="F5EFE6"/>
                          </a:solidFill>
                          <a:latin typeface="Inter"/>
                        </a:rPr>
                        <a:t>Optimisation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68580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Branded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€100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"backpack &amp; bottle", "backpack and bottle"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Defensive — protect from competitor bidding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Branded conversions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Generic Travel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€500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"weekend a Barcellona", "viaggi economici Europa", "city break Praga"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Capture high-intent research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Lead conversion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685800"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Competitor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€200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"volagratis alternativa", "lastminute recensioni"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Win audiences disillusioned with budget OTAs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  <a:latin typeface="Inter"/>
                        </a:rPr>
                        <a:t>Lead conversion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Expected: 400–700 clicks · €1.50–2.50 CPC · 70–100 leads at ~€8 CPL.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Why higher CPL on Google: search intent users are more price-comparing. We accept higher CPL because they convert to bookings at 2× the rate of social leads.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Channels we did not 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And why excluding them is a strategic choice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860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57200">
                <a:tc>
                  <a:txBody>
                    <a:bodyPr lIns="73152" rIns="73152"/>
                    <a:lstStyle/>
                    <a:p>
                      <a:r>
                        <a:rPr b="1" sz="1200">
                          <a:solidFill>
                            <a:srgbClr val="F5EFE6"/>
                          </a:solidFill>
                          <a:latin typeface="Inter"/>
                        </a:rPr>
                        <a:t>Channel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200">
                          <a:solidFill>
                            <a:srgbClr val="F5EFE6"/>
                          </a:solidFill>
                          <a:latin typeface="Inter"/>
                        </a:rPr>
                        <a:t>Reason for exclusion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Display / programmatic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Too low intent, high wastage on banner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TikTok paid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Audience skews younger (Gen Z) with lower booking propensity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Influencer partnerships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Outside €2,000 budget; would dilute the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Affiliate / referral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Requires existing brand awareness we don't have yet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Print / OOH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Audience is digital-first; ROI invisible at this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Email purchase lists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200">
                          <a:solidFill>
                            <a:srgbClr val="1A1A1A"/>
                          </a:solidFill>
                          <a:latin typeface="Inter"/>
                        </a:rPr>
                        <a:t>GDPR violation + brand reputation risk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Budget breakdown &amp; pacing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486400" cy="4114800"/>
          </a:xfrm>
          <a:prstGeom prst="round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ALLOCATION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Meta 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7889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€1,200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788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Google 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€800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40%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118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Total Paid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6118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€2,000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6118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233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Owned/Organic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0233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3A2E"/>
                </a:solidFill>
                <a:latin typeface="Inter"/>
              </a:rPr>
              <a:t>€0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0233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Internal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ADDITIONAL COSTS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3776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Domain + hosting:  €0  (Vercel hobby + .vercel.app)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Email platform:    €0–50/mo  (Mailchimp free / Klaviyo)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Stock images:      €0  (Unsplash free licence)</a:t>
            </a:r>
          </a:p>
          <a:p>
            <a:pPr algn="l"/>
            <a:r>
              <a:rPr sz="1000" b="0">
                <a:solidFill>
                  <a:srgbClr val="1F3A2E"/>
                </a:solidFill>
                <a:latin typeface="Courier New"/>
              </a:rPr>
              <a:t>Creative production: €0  (in-house)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2194560"/>
            <a:ext cx="5486400" cy="4114800"/>
          </a:xfrm>
          <a:prstGeom prst="round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377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PACING (6 WEEKS)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88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Week 1–2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78892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€300/wk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089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Testing — multiple audiences + creatives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576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Week 3–4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65760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€400/wk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9776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Scaling — double down on winners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526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Week 5–6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5262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D97642"/>
                </a:solidFill>
                <a:latin typeface="Inter"/>
              </a:rPr>
              <a:t>€300/wk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8463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Optimisation — efficiency push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48640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ROI framework: 300 leads × 10% nurture-to-booking × €400 avg booking × 10% commission = €1,200 directly attributable revenue. Lead gen — true ROI realised over 90-day coupon validity.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Campaign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8 weeks total · Launch 5 May · Active 5 May – 15 June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42900">
                <a:tc>
                  <a:txBody>
                    <a:bodyPr lIns="73152" rIns="73152"/>
                    <a:lstStyle/>
                    <a:p>
                      <a:r>
                        <a:rPr b="1" sz="900">
                          <a:solidFill>
                            <a:srgbClr val="F5EFE6"/>
                          </a:solidFill>
                          <a:latin typeface="Inter"/>
                        </a:rPr>
                        <a:t>Phase · dates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900">
                          <a:solidFill>
                            <a:srgbClr val="F5EFE6"/>
                          </a:solidFill>
                          <a:latin typeface="Inter"/>
                        </a:rPr>
                        <a:t>Theme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900">
                          <a:solidFill>
                            <a:srgbClr val="F5EFE6"/>
                          </a:solidFill>
                          <a:latin typeface="Inter"/>
                        </a:rPr>
                        <a:t>Activities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Pre-launch · Week 1 (Apr 1–7)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Foundation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Strategy lock, GTM container creation, GA4 property, Meta Business Manager + Pixel install, Google Ads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Pre-launch · Week 2 (Apr 8–14)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Content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Landing page copy, hero image selection, blog posts, ad creative, email templates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Pre-launch · Week 3 (Apr 15–21)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Full tracking QA, form-to-ESP wire-up, double opt-in, Looker dashboard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Pre-launch · Week 4 (Apr 22–30)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Testing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Cross-device QA, dataLayer event verification, conversion test, soft-launch to small audience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Active · Week 1 (May 5–11)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Soft launch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Monitor closely, gather data, fix issues 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Active · Week 2 (May 12–18)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Data collection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Identify winning audiences and creatives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Active · Week 3 (May 19–25)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Scaling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Pause losers, double budget on winners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Active · Week 4 (May 26–Jun 1)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Peak performance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Maximise volume at target CPL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Active · Week 5 (Jun 2–8)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Optimisation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Fine-tune efficiency, lower CPL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Active · Week 6 (Jun 9–15)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Final push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Hit goals, exhaust budget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342900"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Post · Week 7 (Jun 16–22)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900">
                          <a:solidFill>
                            <a:srgbClr val="1A1A1A"/>
                          </a:solidFill>
                          <a:latin typeface="Inter"/>
                        </a:rPr>
                        <a:t>Final report, KPI verdict, learnings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Email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What happens after the user submits the form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02920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When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Email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Content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T+0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Coupon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BB50 + PDF guide attached. Confirms double opt-in if required.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T+1 day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Welcome email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Brand intro · 5 destinations briefly · soft CTA to first city.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T+3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Destination spotlight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Deep dive on the destination they selected as 'most curious'.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T+7 days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Booking psychology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Why booking 6–8 weeks ahead is the sweet spot (links to blog post).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Weekly (Tue 10am)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Deal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One curated package, one reason to act now, transparent pricing.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T-30, T-7, T-1 days before expiry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Coupon expiry reminders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Soft reminder · stronger urgency · final day.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50292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T+30 days, no booking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Re-engagement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Different angle: "What's stopping you?" with FAQ + support contact.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Tooling: Mailchimp (free up to 500) for student build; would migrate to Klaviyo at scale for behaviour-triggered 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Looker Studio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What we look at every morning during the campaign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361188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ACQUISITION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Inter"/>
              </a:rPr>
              <a:t>Sessions, users, source/medium, UTMs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Compare paid vs organic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86000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286000"/>
            <a:ext cx="361188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FUNNEL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88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Inter"/>
              </a:rPr>
              <a:t>Visit → form_start → form_submit → coupon_download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37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Step-by-step drop-off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286000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286000"/>
            <a:ext cx="361188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4688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788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Inter"/>
              </a:rPr>
              <a:t>Spend, CPC, CPL by channel + sub-campaign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337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Spot inefficient spend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69080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069080"/>
            <a:ext cx="361188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51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AUDIENCE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Inter"/>
              </a:rPr>
              <a:t>Geo (Italian regions), device, age, gender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206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Find concentration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4069080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069080"/>
            <a:ext cx="361188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251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ENGAGEMENT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572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Inter"/>
              </a:rPr>
              <a:t>Avg session duration, scroll depth, blog reads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1206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Quality of traffic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4069080"/>
            <a:ext cx="361188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4069080"/>
            <a:ext cx="3611880" cy="381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4251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COUPON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572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2E"/>
                </a:solidFill>
                <a:latin typeface="Inter"/>
              </a:rPr>
              <a:t>Downloads by destination · redemption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51206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F3A2E"/>
                </a:solidFill>
                <a:latin typeface="Inter"/>
              </a:rPr>
              <a:t>Which cities drive bookings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Assumptions made explicit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Things the brief left open — and what we decided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19456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47040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Decision area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What we assumed</a:t>
                      </a:r>
                    </a:p>
                  </a:txBody>
                  <a:tcPr>
                    <a:solidFill>
                      <a:srgbClr val="1F3A2E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Discount amount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€50 off bookings €300+ — 16.7% meaningful, doesn't devalue brand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Validity period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90 days — matches Italian booking cycle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Travel 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1 Jun – 31 Dec 2026, excl. Christmas, NYE, Ferragosto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Geographic scope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Italian residents only · landing page in Italian (EN toggle for academic submission)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Refund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Standard airline cancellation per carrier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Payment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Card · PayPal · immediate e-ticket delivery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Eligibility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18+, valid email required, phone optional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Email frequency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A1A1A"/>
                          </a:solidFill>
                          <a:latin typeface="Inter"/>
                        </a:rPr>
                        <a:t>1 welcome series + 1 weekly deal + expiry reminders — opt-out always one click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Risks &amp; mitigations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522514"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Risk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r>
                        <a:rPr b="1" sz="1100">
                          <a:solidFill>
                            <a:srgbClr val="F5EFE6"/>
                          </a:solidFill>
                          <a:latin typeface="Inter"/>
                        </a:rPr>
                        <a:t>Mitigation</a:t>
                      </a:r>
                    </a:p>
                  </a:txBody>
                  <a:tcPr>
                    <a:solidFill>
                      <a:srgbClr val="D97642"/>
                    </a:solidFill>
                  </a:tcPr>
                </a:tc>
              </a:tr>
              <a:tr h="52251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CPL exceeds €6.67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Pause weakest sub-campaign weekly; reallocate to retargeting (lowest CPL)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Coupon redemption &lt; 10%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A/B test discount value (€50 vs €75) in week 4; longer email nurture sequence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52251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Italian Q2 holiday clusters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Timeline avoids Easter, Liberation Day, Labour Day, Republic Day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Privacy regulator scrutiny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Consent Mode v2 default-denied, DPO email visible, retention policy enforced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  <a:tr h="522514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Single-channel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Two paid channels + organic blog SEO + email — no single point of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Brand-name confusion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r>
                        <a:rPr sz="1100">
                          <a:solidFill>
                            <a:srgbClr val="1F3A2E"/>
                          </a:solidFill>
                          <a:latin typeface="Inter"/>
                        </a:rPr>
                        <a:t>Branded search budget (€100) protects "backpack &amp; bottle" SERPs</a:t>
                      </a:r>
                    </a:p>
                  </a:txBody>
                  <a:tcPr>
                    <a:solidFill>
                      <a:srgbClr val="F5EF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Internal consistency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Audience → Offer → Positioning → Media → Budget → KPIs → Timing all align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Audience → Offer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19456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Millennials value experiences → city break packages with authentic local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3347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Audience → Coupon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63347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Budget-conscious but not cheap → €50 discount, meaningful but not feels cheap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Audience → Curation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072384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Decision fatigue → 3–5 curated options per city, not 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1129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Offer → 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51129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Curated packages → "Skip the research fatigue"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5020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Offer →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950208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Transparent pricing → differentiation from sketchy OTAs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Positioning → Media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3891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"Instagram-worthy" → visual Meta ads · "Planning fatigue" → search ads on intent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280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Media → Budget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4828032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Meta-heavy where audience spends time + affordable Italian CPCs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6694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Budget → KPIs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5266944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€6.67 target CPL achievable with Meta €0.70–1.00 CPC + 6% form CVR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70585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KPIs →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5705856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May launch hits the peak summer-trip booking window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Verdict: no contradictions. Brief is internally coherent and execution-ready.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What we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EFE6"/>
                </a:solidFill>
                <a:latin typeface="Inter"/>
              </a:rPr>
              <a:t>Beyond the brief: an actual working campaign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Live 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14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Next.js + Vercel · /vercel.app subdomain · password-protected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971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Brand identity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91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Wordmark + line mark · 6-colour palette · Fraunces + Inter typography · voice guide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49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Branded coupon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069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BB50 single-page PDF generated programmatically — served from /public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526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Public measurement page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/measurement on the live site documents the entire tracking 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303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3 SEO blog posts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623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Weekend itinerary · booking timing · destination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1945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Italian + English landing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2514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EN/IT toggle · localStorage persisted · academic-friendly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2971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2971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GDPR Consent Mode 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59" y="3291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Default-denied banner · audit-ready · all 4 signals modelled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37490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59" y="37490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Tracking dataLayer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59" y="4069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10 custom events · 10 GTM tags · 2 custom dimensions · ready to publish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59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97642"/>
                </a:solidFill>
                <a:latin typeface="Inter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59" y="45262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EFE6"/>
                </a:solidFill>
                <a:latin typeface="Inter"/>
              </a:rPr>
              <a:t>This deck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59" y="4846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EFE6"/>
                </a:solidFill>
                <a:latin typeface="Inter"/>
              </a:rPr>
              <a:t>30 slides covering brief → strategy → brand → site → tracking → media → KPIs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2E"/>
                </a:solidFill>
                <a:latin typeface="Georgia"/>
              </a:rPr>
              <a:t>Next steps to go truly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3A2E"/>
                </a:solidFill>
                <a:latin typeface="Inter"/>
              </a:rPr>
              <a:t>What a real launch would require beyond this academic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Legal entity + 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9456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VAT registration · Stripe Italia · IATA accreditation or partner OTA contract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Real supply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9748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Negotiate flight + hotel partnership rates for the 5 destinations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004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Booking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20040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Replace static destination cards with a real booking flow + inventory feed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703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Customer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70332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Italian-language email + chat with 24h response SLA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062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2062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Email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20624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Klaviyo with behaviour-triggered flows (e.g., abandoned form, viewed-but-no-form)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091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7091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Performance creative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70916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Ongoing weekly creative refresh — Meta fatigue at 3–5 days for cold audiences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1208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2120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Real Looker connection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21208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GA4 → BigQuery export → Looker Studio for unsampled long-term reporting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7150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97642"/>
                </a:solidFill>
                <a:latin typeface="Georgia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715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2E"/>
                </a:solidFill>
                <a:latin typeface="Inter"/>
              </a:rPr>
              <a:t>Compliance audit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71500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3A2E"/>
                </a:solidFill>
                <a:latin typeface="Inter"/>
              </a:rPr>
              <a:t>External DPO review pre-launch · cookie audit · privacy policy lawyer 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3A2E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1F3A2E"/>
                </a:solidFill>
                <a:latin typeface="Inter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5EFE6"/>
                </a:solidFill>
                <a:latin typeface="Georgia"/>
              </a:rPr>
              <a:t>Where to find everything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Live 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3774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https://[deployment].vercel.app  (password-protected — see HANDOFF.md)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GitHub repo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92608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https://github.com/saikanagat1117-sys/backpack-bottle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Measurement page (live)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4747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https://[deployment].vercel.app/measurement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5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Branded coupon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023359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https://[deployment].vercel.app/backpack-bottle-coupon-BB50.pdf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Privacy &amp; T&amp;Cs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57200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https://[deployment].vercel.app/privacy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206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Blog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512064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https://[deployment].vercel.app/blog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79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97642"/>
                </a:solidFill>
                <a:latin typeface="Inter"/>
              </a:rPr>
              <a:t>This deck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5669279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EFE6"/>
                </a:solidFill>
                <a:latin typeface="Courier New"/>
              </a:rPr>
              <a:t>Backpack-Bottle-Campaign.pptx (in repo /public folder)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5EFE6"/>
                </a:solidFill>
                <a:latin typeface="Inter"/>
              </a:rPr>
              <a:t>backpack &amp; bottle  ·  Group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5EFE6"/>
                </a:solidFill>
                <a:latin typeface="Inter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365760" cy="25400"/>
          </a:xfrm>
          <a:prstGeom prst="rect">
            <a:avLst/>
          </a:prstGeom>
          <a:solidFill>
            <a:srgbClr val="D97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D97642"/>
                </a:solidFill>
                <a:latin typeface="Inter"/>
              </a:rPr>
              <a:t>GROUP 3 · DIGITAL PLATFORMS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>
                <a:solidFill>
                  <a:srgbClr val="F5EFE6"/>
                </a:solidFill>
                <a:latin typeface="Georgia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D97642"/>
                </a:solidFill>
                <a:latin typeface="Georgia"/>
              </a:rPr>
              <a:t>Skip the research fatigue.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EFE6"/>
                </a:solidFill>
                <a:latin typeface="Inter"/>
              </a:rPr>
              <a:t>Sai Prathyaksh Kanagat · Group 3 · Bologna Business School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2179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F5EFE6"/>
                </a:solidFill>
                <a:latin typeface="Inter"/>
              </a:rPr>
              <a:t>saikanagat1117@gmail.com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